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Biome" panose="020B0503030204020804" pitchFamily="3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834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24-03-2026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24-03-2026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24-03-2026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24-03-2026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cyber-shield-ai-two.vercel.app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4.png"/><Relationship Id="rId9" Type="http://schemas.openxmlformats.org/officeDocument/2006/relationships/hyperlink" Target="https://github.com/vaishnavikhule1405-bit/CyberShieldAI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66500">
            <a:off x="8829878" y="-1470836"/>
            <a:ext cx="11665413" cy="3936460"/>
          </a:xfrm>
          <a:custGeom>
            <a:avLst/>
            <a:gdLst/>
            <a:ahLst/>
            <a:cxnLst/>
            <a:rect l="l" t="t" r="r" b="b"/>
            <a:pathLst>
              <a:path w="12307767" h="7200900">
                <a:moveTo>
                  <a:pt x="0" y="0"/>
                </a:moveTo>
                <a:lnTo>
                  <a:pt x="12307767" y="0"/>
                </a:lnTo>
                <a:lnTo>
                  <a:pt x="12307767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t="-33" b="-33"/>
            </a:stretch>
          </a:blipFill>
        </p:spPr>
      </p:sp>
      <p:sp>
        <p:nvSpPr>
          <p:cNvPr id="3" name="Freeform 3"/>
          <p:cNvSpPr/>
          <p:nvPr/>
        </p:nvSpPr>
        <p:spPr>
          <a:xfrm rot="1493580">
            <a:off x="-3395546" y="4789737"/>
            <a:ext cx="10829694" cy="5807764"/>
          </a:xfrm>
          <a:custGeom>
            <a:avLst/>
            <a:gdLst/>
            <a:ahLst/>
            <a:cxnLst/>
            <a:rect l="l" t="t" r="r" b="b"/>
            <a:pathLst>
              <a:path w="15325477" h="8242764">
                <a:moveTo>
                  <a:pt x="0" y="0"/>
                </a:moveTo>
                <a:lnTo>
                  <a:pt x="15325478" y="0"/>
                </a:lnTo>
                <a:lnTo>
                  <a:pt x="15325478" y="8242764"/>
                </a:lnTo>
                <a:lnTo>
                  <a:pt x="0" y="82427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 t="-34" b="-34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7534715" y="9520123"/>
            <a:ext cx="627364" cy="627364"/>
            <a:chOff x="0" y="0"/>
            <a:chExt cx="836485" cy="83648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36422" cy="836422"/>
            </a:xfrm>
            <a:custGeom>
              <a:avLst/>
              <a:gdLst/>
              <a:ahLst/>
              <a:cxnLst/>
              <a:rect l="l" t="t" r="r" b="b"/>
              <a:pathLst>
                <a:path w="836422" h="836422">
                  <a:moveTo>
                    <a:pt x="0" y="0"/>
                  </a:moveTo>
                  <a:lnTo>
                    <a:pt x="836422" y="0"/>
                  </a:lnTo>
                  <a:lnTo>
                    <a:pt x="836422" y="836422"/>
                  </a:lnTo>
                  <a:lnTo>
                    <a:pt x="0" y="836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7" b="-7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738862" y="-491738"/>
            <a:ext cx="3040875" cy="3040875"/>
            <a:chOff x="0" y="0"/>
            <a:chExt cx="4054500" cy="4054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54475" cy="4054475"/>
            </a:xfrm>
            <a:custGeom>
              <a:avLst/>
              <a:gdLst/>
              <a:ahLst/>
              <a:cxnLst/>
              <a:rect l="l" t="t" r="r" b="b"/>
              <a:pathLst>
                <a:path w="4054475" h="4054475">
                  <a:moveTo>
                    <a:pt x="0" y="0"/>
                  </a:moveTo>
                  <a:lnTo>
                    <a:pt x="4054475" y="0"/>
                  </a:lnTo>
                  <a:lnTo>
                    <a:pt x="4054475" y="4054475"/>
                  </a:lnTo>
                  <a:lnTo>
                    <a:pt x="0" y="4054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0" y="8865413"/>
            <a:ext cx="1936775" cy="1936775"/>
            <a:chOff x="0" y="0"/>
            <a:chExt cx="2582367" cy="258236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82418" cy="2582418"/>
            </a:xfrm>
            <a:custGeom>
              <a:avLst/>
              <a:gdLst/>
              <a:ahLst/>
              <a:cxnLst/>
              <a:rect l="l" t="t" r="r" b="b"/>
              <a:pathLst>
                <a:path w="2582418" h="2582418">
                  <a:moveTo>
                    <a:pt x="0" y="0"/>
                  </a:moveTo>
                  <a:lnTo>
                    <a:pt x="2582418" y="0"/>
                  </a:lnTo>
                  <a:lnTo>
                    <a:pt x="2582418" y="2582418"/>
                  </a:lnTo>
                  <a:lnTo>
                    <a:pt x="0" y="2582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" b="1"/>
              </a:stretch>
            </a:blipFill>
          </p:spPr>
        </p:sp>
      </p:grpSp>
      <p:sp>
        <p:nvSpPr>
          <p:cNvPr id="20" name="AccentBar"/>
          <p:cNvSpPr/>
          <p:nvPr/>
        </p:nvSpPr>
        <p:spPr>
          <a:xfrm>
            <a:off x="800000" y="723900"/>
            <a:ext cx="120000" cy="8458200"/>
          </a:xfrm>
          <a:prstGeom prst="rect">
            <a:avLst/>
          </a:prstGeom>
          <a:solidFill>
            <a:srgbClr val="00F3FF"/>
          </a:solidFill>
          <a:ln>
            <a:noFill/>
          </a:ln>
        </p:spPr>
      </p:sp>
      <p:sp>
        <p:nvSpPr>
          <p:cNvPr id="21" name="Title"/>
          <p:cNvSpPr txBox="1"/>
          <p:nvPr/>
        </p:nvSpPr>
        <p:spPr>
          <a:xfrm>
            <a:off x="1200000" y="279894"/>
            <a:ext cx="13500000" cy="1154162"/>
          </a:xfrm>
          <a:prstGeom prst="rect">
            <a:avLst/>
          </a:prstGeom>
          <a:noFill/>
        </p:spPr>
        <p:txBody>
          <a:bodyPr lIns="0" tIns="0" rIns="0" bIns="0" rtlCol="0" anchor="ctr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8000" b="1" dirty="0">
                <a:solidFill>
                  <a:srgbClr val="FFFFFF"/>
                </a:solidFill>
              </a:rPr>
              <a:t>CYBERSHIELD AI</a:t>
            </a:r>
          </a:p>
        </p:txBody>
      </p:sp>
      <p:sp>
        <p:nvSpPr>
          <p:cNvPr id="22" name="Tagline"/>
          <p:cNvSpPr txBox="1"/>
          <p:nvPr/>
        </p:nvSpPr>
        <p:spPr>
          <a:xfrm>
            <a:off x="1200000" y="1471976"/>
            <a:ext cx="15259200" cy="56797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2400" b="0" dirty="0">
                <a:solidFill>
                  <a:srgbClr val="00F3FF"/>
                </a:solidFill>
              </a:rPr>
              <a:t>Next-Gen AI-Powered Cybersecurity Platform  |  Threat Detection  |  Vulnerability Triage  |  Policy Intelligence</a:t>
            </a:r>
          </a:p>
        </p:txBody>
      </p:sp>
      <p:sp>
        <p:nvSpPr>
          <p:cNvPr id="23" name="Divider"/>
          <p:cNvSpPr/>
          <p:nvPr/>
        </p:nvSpPr>
        <p:spPr>
          <a:xfrm>
            <a:off x="1200000" y="2205964"/>
            <a:ext cx="10000000" cy="60000"/>
          </a:xfrm>
          <a:prstGeom prst="rect">
            <a:avLst/>
          </a:prstGeom>
          <a:solidFill>
            <a:srgbClr val="FFFFFF">
              <a:alpha val="25000"/>
            </a:srgbClr>
          </a:solidFill>
          <a:ln>
            <a:noFill/>
          </a:ln>
        </p:spPr>
      </p:sp>
      <p:sp>
        <p:nvSpPr>
          <p:cNvPr id="24" name="TeamInfo"/>
          <p:cNvSpPr txBox="1"/>
          <p:nvPr/>
        </p:nvSpPr>
        <p:spPr>
          <a:xfrm>
            <a:off x="1200000" y="2336043"/>
            <a:ext cx="8500000" cy="4573816"/>
          </a:xfrm>
          <a:prstGeom prst="rect">
            <a:avLst/>
          </a:prstGeom>
          <a:noFill/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2400" b="1" dirty="0">
                <a:solidFill>
                  <a:srgbClr val="AAAAA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 NAME</a:t>
            </a: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:  Gryffindors</a:t>
            </a:r>
          </a:p>
          <a:p>
            <a:pPr algn="l">
              <a:lnSpc>
                <a:spcPts val="5200"/>
              </a:lnSpc>
            </a:pPr>
            <a:r>
              <a:rPr lang="en-US" sz="2400" b="1" dirty="0">
                <a:solidFill>
                  <a:srgbClr val="AAAAA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COLLEGE</a:t>
            </a: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:  A.P.SHAH Institute Of Technology , Thane (W)</a:t>
            </a:r>
          </a:p>
          <a:p>
            <a:pPr algn="l">
              <a:lnSpc>
                <a:spcPts val="5200"/>
              </a:lnSpc>
            </a:pPr>
            <a:r>
              <a:rPr lang="en-US" sz="2400" b="1" dirty="0">
                <a:solidFill>
                  <a:srgbClr val="AAAAA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MEMBERS</a:t>
            </a: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:  1.Amitesh Jain</a:t>
            </a:r>
          </a:p>
          <a:p>
            <a:pPr algn="l">
              <a:lnSpc>
                <a:spcPts val="5200"/>
              </a:lnSpc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2.Darsh Jain</a:t>
            </a:r>
          </a:p>
          <a:p>
            <a:pPr algn="l">
              <a:lnSpc>
                <a:spcPts val="5200"/>
              </a:lnSpc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3.Riya Koli</a:t>
            </a:r>
          </a:p>
          <a:p>
            <a:pPr algn="l">
              <a:lnSpc>
                <a:spcPts val="5200"/>
              </a:lnSpc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4.Vaishnavi Khule</a:t>
            </a:r>
          </a:p>
          <a:p>
            <a:pPr algn="l">
              <a:lnSpc>
                <a:spcPts val="5200"/>
              </a:lnSpc>
            </a:pPr>
            <a:r>
              <a:rPr lang="en-US" sz="2400" b="1" dirty="0">
                <a:solidFill>
                  <a:srgbClr val="AAAAA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PS NUMBER</a:t>
            </a: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: 2</a:t>
            </a:r>
          </a:p>
        </p:txBody>
      </p:sp>
      <p:sp>
        <p:nvSpPr>
          <p:cNvPr id="30" name="Stat1Bg"/>
          <p:cNvSpPr/>
          <p:nvPr/>
        </p:nvSpPr>
        <p:spPr>
          <a:xfrm>
            <a:off x="10471767" y="2960218"/>
            <a:ext cx="2300000" cy="1500000"/>
          </a:xfrm>
          <a:prstGeom prst="rect">
            <a:avLst/>
          </a:prstGeom>
          <a:solidFill>
            <a:srgbClr val="00F3FF">
              <a:alpha val="15000"/>
            </a:srgbClr>
          </a:solidFill>
          <a:ln w="25400">
            <a:solidFill>
              <a:srgbClr val="00F3FF"/>
            </a:solidFill>
          </a:ln>
        </p:spPr>
      </p:sp>
      <p:sp>
        <p:nvSpPr>
          <p:cNvPr id="31" name="Stat1Txt"/>
          <p:cNvSpPr txBox="1"/>
          <p:nvPr/>
        </p:nvSpPr>
        <p:spPr>
          <a:xfrm>
            <a:off x="10471767" y="2960218"/>
            <a:ext cx="2300000" cy="1500000"/>
          </a:xfrm>
          <a:prstGeom prst="rect">
            <a:avLst/>
          </a:prstGeom>
          <a:noFill/>
        </p:spPr>
        <p:txBody>
          <a:bodyPr lIns="91440" tIns="91440" rIns="91440" bIns="91440" rtlCol="0" anchor="ctr"/>
          <a:lstStyle/>
          <a:p>
            <a:pPr algn="ctr">
              <a:lnSpc>
                <a:spcPts val="4000"/>
              </a:lnSpc>
            </a:pPr>
            <a:r>
              <a:rPr lang="en-US" sz="5000" b="1" dirty="0">
                <a:solidFill>
                  <a:srgbClr val="00F3FF"/>
                </a:solidFill>
              </a:rPr>
              <a:t>6</a:t>
            </a:r>
          </a:p>
          <a:p>
            <a:pPr algn="ctr">
              <a:lnSpc>
                <a:spcPts val="4000"/>
              </a:lnSpc>
            </a:pPr>
            <a:r>
              <a:rPr lang="en-US" sz="1400" b="0" dirty="0">
                <a:solidFill>
                  <a:srgbClr val="FFFFFF"/>
                </a:solidFill>
              </a:rPr>
              <a:t>SECURITY MODULES</a:t>
            </a:r>
          </a:p>
        </p:txBody>
      </p:sp>
      <p:sp>
        <p:nvSpPr>
          <p:cNvPr id="32" name="Stat2Bg"/>
          <p:cNvSpPr/>
          <p:nvPr/>
        </p:nvSpPr>
        <p:spPr>
          <a:xfrm>
            <a:off x="12971767" y="2960218"/>
            <a:ext cx="2300000" cy="1500000"/>
          </a:xfrm>
          <a:prstGeom prst="rect">
            <a:avLst/>
          </a:prstGeom>
          <a:solidFill>
            <a:srgbClr val="FF003C">
              <a:alpha val="15000"/>
            </a:srgbClr>
          </a:solidFill>
          <a:ln w="25400">
            <a:solidFill>
              <a:srgbClr val="FF003C"/>
            </a:solidFill>
          </a:ln>
        </p:spPr>
      </p:sp>
      <p:sp>
        <p:nvSpPr>
          <p:cNvPr id="33" name="Stat2Txt"/>
          <p:cNvSpPr txBox="1"/>
          <p:nvPr/>
        </p:nvSpPr>
        <p:spPr>
          <a:xfrm>
            <a:off x="12971767" y="2960218"/>
            <a:ext cx="2300000" cy="1500000"/>
          </a:xfrm>
          <a:prstGeom prst="rect">
            <a:avLst/>
          </a:prstGeom>
          <a:noFill/>
        </p:spPr>
        <p:txBody>
          <a:bodyPr lIns="91440" tIns="91440" rIns="91440" bIns="91440" rtlCol="0" anchor="ctr"/>
          <a:lstStyle/>
          <a:p>
            <a:pPr algn="ctr">
              <a:lnSpc>
                <a:spcPts val="4000"/>
              </a:lnSpc>
            </a:pPr>
            <a:r>
              <a:rPr lang="en-US" sz="5000" b="1" dirty="0">
                <a:solidFill>
                  <a:srgbClr val="FF003C"/>
                </a:solidFill>
              </a:rPr>
              <a:t>70B</a:t>
            </a:r>
          </a:p>
          <a:p>
            <a:pPr algn="ctr">
              <a:lnSpc>
                <a:spcPts val="4000"/>
              </a:lnSpc>
            </a:pPr>
            <a:r>
              <a:rPr lang="en-US" sz="1400" b="0" dirty="0">
                <a:solidFill>
                  <a:srgbClr val="FFFFFF"/>
                </a:solidFill>
              </a:rPr>
              <a:t>PARAM AI MODEL</a:t>
            </a:r>
          </a:p>
        </p:txBody>
      </p:sp>
      <p:sp>
        <p:nvSpPr>
          <p:cNvPr id="34" name="Stat3Bg"/>
          <p:cNvSpPr/>
          <p:nvPr/>
        </p:nvSpPr>
        <p:spPr>
          <a:xfrm>
            <a:off x="10471767" y="4660218"/>
            <a:ext cx="2300000" cy="1500000"/>
          </a:xfrm>
          <a:prstGeom prst="rect">
            <a:avLst/>
          </a:prstGeom>
          <a:solidFill>
            <a:srgbClr val="39FF14">
              <a:alpha val="15000"/>
            </a:srgbClr>
          </a:solidFill>
          <a:ln w="25400">
            <a:solidFill>
              <a:srgbClr val="39FF14"/>
            </a:solidFill>
          </a:ln>
        </p:spPr>
      </p:sp>
      <p:sp>
        <p:nvSpPr>
          <p:cNvPr id="35" name="Stat3Txt"/>
          <p:cNvSpPr txBox="1"/>
          <p:nvPr/>
        </p:nvSpPr>
        <p:spPr>
          <a:xfrm>
            <a:off x="10471767" y="4660218"/>
            <a:ext cx="2300000" cy="1500000"/>
          </a:xfrm>
          <a:prstGeom prst="rect">
            <a:avLst/>
          </a:prstGeom>
          <a:noFill/>
        </p:spPr>
        <p:txBody>
          <a:bodyPr lIns="91440" tIns="91440" rIns="91440" bIns="91440" rtlCol="0" anchor="ctr"/>
          <a:lstStyle/>
          <a:p>
            <a:pPr algn="ctr">
              <a:lnSpc>
                <a:spcPts val="4000"/>
              </a:lnSpc>
            </a:pPr>
            <a:r>
              <a:rPr lang="en-US" sz="4000" b="1" dirty="0">
                <a:solidFill>
                  <a:srgbClr val="39FF14"/>
                </a:solidFill>
              </a:rPr>
              <a:t>251K+</a:t>
            </a:r>
          </a:p>
          <a:p>
            <a:pPr algn="ctr">
              <a:lnSpc>
                <a:spcPts val="4000"/>
              </a:lnSpc>
            </a:pPr>
            <a:r>
              <a:rPr lang="en-US" sz="1400" b="0" dirty="0">
                <a:solidFill>
                  <a:srgbClr val="FFFFFF"/>
                </a:solidFill>
              </a:rPr>
              <a:t>CVEs TRACKED</a:t>
            </a:r>
          </a:p>
        </p:txBody>
      </p:sp>
      <p:sp>
        <p:nvSpPr>
          <p:cNvPr id="36" name="Stat4Bg"/>
          <p:cNvSpPr/>
          <p:nvPr/>
        </p:nvSpPr>
        <p:spPr>
          <a:xfrm>
            <a:off x="12971767" y="4660218"/>
            <a:ext cx="2300000" cy="1500000"/>
          </a:xfrm>
          <a:prstGeom prst="rect">
            <a:avLst/>
          </a:prstGeom>
          <a:solidFill>
            <a:srgbClr val="B000FF">
              <a:alpha val="15000"/>
            </a:srgbClr>
          </a:solidFill>
          <a:ln w="25400">
            <a:solidFill>
              <a:srgbClr val="B000FF"/>
            </a:solidFill>
          </a:ln>
        </p:spPr>
      </p:sp>
      <p:sp>
        <p:nvSpPr>
          <p:cNvPr id="37" name="Stat4Txt"/>
          <p:cNvSpPr txBox="1"/>
          <p:nvPr/>
        </p:nvSpPr>
        <p:spPr>
          <a:xfrm>
            <a:off x="12971767" y="4660218"/>
            <a:ext cx="2300000" cy="1500000"/>
          </a:xfrm>
          <a:prstGeom prst="rect">
            <a:avLst/>
          </a:prstGeom>
          <a:noFill/>
        </p:spPr>
        <p:txBody>
          <a:bodyPr lIns="91440" tIns="91440" rIns="91440" bIns="91440" rtlCol="0" anchor="ctr"/>
          <a:lstStyle/>
          <a:p>
            <a:pPr algn="ctr">
              <a:lnSpc>
                <a:spcPts val="4000"/>
              </a:lnSpc>
            </a:pPr>
            <a:r>
              <a:rPr lang="en-US" sz="3200" b="1" dirty="0">
                <a:solidFill>
                  <a:srgbClr val="B000FF"/>
                </a:solidFill>
              </a:rPr>
              <a:t>LIVE</a:t>
            </a:r>
          </a:p>
          <a:p>
            <a:pPr algn="ctr">
              <a:lnSpc>
                <a:spcPts val="4000"/>
              </a:lnSpc>
            </a:pPr>
            <a:r>
              <a:rPr lang="en-US" sz="1400" b="0" dirty="0">
                <a:solidFill>
                  <a:srgbClr val="FFFFFF"/>
                </a:solidFill>
              </a:rPr>
              <a:t>THREAT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66500">
            <a:off x="8750128" y="-1393384"/>
            <a:ext cx="12129714" cy="4254972"/>
          </a:xfrm>
          <a:custGeom>
            <a:avLst/>
            <a:gdLst/>
            <a:ahLst/>
            <a:cxnLst/>
            <a:rect l="l" t="t" r="r" b="b"/>
            <a:pathLst>
              <a:path w="12307767" h="7200900">
                <a:moveTo>
                  <a:pt x="0" y="0"/>
                </a:moveTo>
                <a:lnTo>
                  <a:pt x="12307767" y="0"/>
                </a:lnTo>
                <a:lnTo>
                  <a:pt x="12307767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t="-33" b="-33"/>
            </a:stretch>
          </a:blipFill>
        </p:spPr>
      </p:sp>
      <p:sp>
        <p:nvSpPr>
          <p:cNvPr id="3" name="Freeform 3"/>
          <p:cNvSpPr/>
          <p:nvPr/>
        </p:nvSpPr>
        <p:spPr>
          <a:xfrm rot="1493580">
            <a:off x="-3538836" y="5535962"/>
            <a:ext cx="11854719" cy="5351998"/>
          </a:xfrm>
          <a:custGeom>
            <a:avLst/>
            <a:gdLst/>
            <a:ahLst/>
            <a:cxnLst/>
            <a:rect l="l" t="t" r="r" b="b"/>
            <a:pathLst>
              <a:path w="15325477" h="8242764">
                <a:moveTo>
                  <a:pt x="0" y="0"/>
                </a:moveTo>
                <a:lnTo>
                  <a:pt x="15325478" y="0"/>
                </a:lnTo>
                <a:lnTo>
                  <a:pt x="15325478" y="8242764"/>
                </a:lnTo>
                <a:lnTo>
                  <a:pt x="0" y="82427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 t="-34" b="-34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7534715" y="9520123"/>
            <a:ext cx="627364" cy="627364"/>
            <a:chOff x="0" y="0"/>
            <a:chExt cx="836485" cy="83648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36422" cy="836422"/>
            </a:xfrm>
            <a:custGeom>
              <a:avLst/>
              <a:gdLst/>
              <a:ahLst/>
              <a:cxnLst/>
              <a:rect l="l" t="t" r="r" b="b"/>
              <a:pathLst>
                <a:path w="836422" h="836422">
                  <a:moveTo>
                    <a:pt x="0" y="0"/>
                  </a:moveTo>
                  <a:lnTo>
                    <a:pt x="836422" y="0"/>
                  </a:lnTo>
                  <a:lnTo>
                    <a:pt x="836422" y="836422"/>
                  </a:lnTo>
                  <a:lnTo>
                    <a:pt x="0" y="836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7" b="-7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738862" y="-491738"/>
            <a:ext cx="3040875" cy="3040875"/>
            <a:chOff x="0" y="0"/>
            <a:chExt cx="4054500" cy="4054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54475" cy="4054475"/>
            </a:xfrm>
            <a:custGeom>
              <a:avLst/>
              <a:gdLst/>
              <a:ahLst/>
              <a:cxnLst/>
              <a:rect l="l" t="t" r="r" b="b"/>
              <a:pathLst>
                <a:path w="4054475" h="4054475">
                  <a:moveTo>
                    <a:pt x="0" y="0"/>
                  </a:moveTo>
                  <a:lnTo>
                    <a:pt x="4054475" y="0"/>
                  </a:lnTo>
                  <a:lnTo>
                    <a:pt x="4054475" y="4054475"/>
                  </a:lnTo>
                  <a:lnTo>
                    <a:pt x="0" y="4054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0" y="8865413"/>
            <a:ext cx="1936775" cy="1936775"/>
            <a:chOff x="0" y="0"/>
            <a:chExt cx="2582367" cy="258236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82418" cy="2582418"/>
            </a:xfrm>
            <a:custGeom>
              <a:avLst/>
              <a:gdLst/>
              <a:ahLst/>
              <a:cxnLst/>
              <a:rect l="l" t="t" r="r" b="b"/>
              <a:pathLst>
                <a:path w="2582418" h="2582418">
                  <a:moveTo>
                    <a:pt x="0" y="0"/>
                  </a:moveTo>
                  <a:lnTo>
                    <a:pt x="2582418" y="0"/>
                  </a:lnTo>
                  <a:lnTo>
                    <a:pt x="2582418" y="2582418"/>
                  </a:lnTo>
                  <a:lnTo>
                    <a:pt x="0" y="2582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" b="1"/>
              </a:stretch>
            </a:blipFill>
          </p:spPr>
        </p:sp>
      </p:grpSp>
      <p:sp>
        <p:nvSpPr>
          <p:cNvPr id="19" name="AccentBar"/>
          <p:cNvSpPr/>
          <p:nvPr/>
        </p:nvSpPr>
        <p:spPr>
          <a:xfrm>
            <a:off x="800000" y="1900000"/>
            <a:ext cx="100000" cy="7800000"/>
          </a:xfrm>
          <a:prstGeom prst="rect">
            <a:avLst/>
          </a:prstGeom>
          <a:solidFill>
            <a:srgbClr val="FF003C"/>
          </a:solidFill>
          <a:ln>
            <a:noFill/>
          </a:ln>
        </p:spPr>
      </p:sp>
      <p:sp>
        <p:nvSpPr>
          <p:cNvPr id="20" name="SlideTitle"/>
          <p:cNvSpPr txBox="1"/>
          <p:nvPr/>
        </p:nvSpPr>
        <p:spPr>
          <a:xfrm>
            <a:off x="609600" y="472786"/>
            <a:ext cx="12390400" cy="965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5500" b="1" dirty="0">
                <a:solidFill>
                  <a:srgbClr val="FFFFFF"/>
                </a:solidFill>
              </a:rPr>
              <a:t>PROBLEM DEFINITION</a:t>
            </a:r>
          </a:p>
        </p:txBody>
      </p:sp>
      <p:sp>
        <p:nvSpPr>
          <p:cNvPr id="18" name="Div"/>
          <p:cNvSpPr/>
          <p:nvPr/>
        </p:nvSpPr>
        <p:spPr>
          <a:xfrm>
            <a:off x="1000000" y="1900000"/>
            <a:ext cx="11000000" cy="500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70" name="Txt70"/>
          <p:cNvSpPr txBox="1"/>
          <p:nvPr/>
        </p:nvSpPr>
        <p:spPr>
          <a:xfrm>
            <a:off x="1100000" y="2275444"/>
            <a:ext cx="15400000" cy="726161"/>
          </a:xfrm>
          <a:prstGeom prst="rect">
            <a:avLst/>
          </a:prstGeom>
          <a:noFill/>
        </p:spPr>
        <p:txBody>
          <a:bodyPr wrap="square" lIns="91440" tIns="91440" rIns="91440" bIns="91440" rtlCol="0" anchor="ctr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2200" b="1" dirty="0">
                <a:solidFill>
                  <a:srgbClr val="FF003C"/>
                </a:solidFill>
              </a:rPr>
              <a:t>Problem Statements:</a:t>
            </a:r>
          </a:p>
        </p:txBody>
      </p:sp>
      <p:sp>
        <p:nvSpPr>
          <p:cNvPr id="71" name="Bul71"/>
          <p:cNvSpPr txBox="1"/>
          <p:nvPr/>
        </p:nvSpPr>
        <p:spPr>
          <a:xfrm>
            <a:off x="900000" y="3000000"/>
            <a:ext cx="16388000" cy="3046603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342900" indent="-342900" algn="l">
              <a:lnSpc>
                <a:spcPts val="4600"/>
              </a:lnSpc>
              <a:buFont typeface="Arial"/>
              <a:buChar char="►"/>
            </a:pPr>
            <a:r>
              <a:rPr lang="en-US" b="1" dirty="0">
                <a:solidFill>
                  <a:srgbClr val="FF00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CYBERATTACKS ARE INCREASING EXPONENTIALLY </a:t>
            </a:r>
            <a:r>
              <a:rPr lang="en-US" b="1" dirty="0">
                <a:solidFill>
                  <a:srgbClr val="DDDDD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 Malware, phishing, and zero-day vulnerabilities cause billions in damages annually.</a:t>
            </a:r>
          </a:p>
          <a:p>
            <a:pPr marL="342900" indent="-342900" algn="l">
              <a:lnSpc>
                <a:spcPts val="4600"/>
              </a:lnSpc>
              <a:buFont typeface="Arial"/>
              <a:buChar char="►"/>
            </a:pPr>
            <a:r>
              <a:rPr lang="en-US" b="1" dirty="0">
                <a:solidFill>
                  <a:srgbClr val="FF00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 TEAMS ARE OVERWHELMED</a:t>
            </a:r>
            <a:r>
              <a:rPr lang="en-US" b="1" dirty="0">
                <a:solidFill>
                  <a:srgbClr val="DDDDD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 Manual threat analysis is slow, error-prone, and unable to scale with modern attack volume.</a:t>
            </a:r>
          </a:p>
          <a:p>
            <a:pPr marL="342900" indent="-342900" algn="l">
              <a:lnSpc>
                <a:spcPts val="4600"/>
              </a:lnSpc>
              <a:buFont typeface="Arial"/>
              <a:buChar char="►"/>
            </a:pPr>
            <a:r>
              <a:rPr lang="en-US" b="1" dirty="0">
                <a:solidFill>
                  <a:srgbClr val="FF00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DEEPFAKE EPIDEMIC </a:t>
            </a:r>
            <a:r>
              <a:rPr lang="en-US" b="1" dirty="0">
                <a:solidFill>
                  <a:srgbClr val="DDDDD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 Deepfakes and AI-generated phishing content are bypassing traditional detection tools.</a:t>
            </a:r>
          </a:p>
          <a:p>
            <a:pPr marL="342900" indent="-342900" algn="l">
              <a:lnSpc>
                <a:spcPts val="4600"/>
              </a:lnSpc>
              <a:buFont typeface="Arial"/>
              <a:buChar char="►"/>
            </a:pPr>
            <a:r>
              <a:rPr lang="en-US" b="1" dirty="0">
                <a:solidFill>
                  <a:srgbClr val="FF00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HONEYPOT</a:t>
            </a:r>
            <a:r>
              <a:rPr lang="en-US" b="1" dirty="0">
                <a:solidFill>
                  <a:srgbClr val="DDDDD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</a:t>
            </a:r>
            <a:r>
              <a:rPr lang="en-US" b="1" dirty="0">
                <a:solidFill>
                  <a:srgbClr val="FF00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DDDDD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Organizations lack real-time visibility into network intrusions, credential theft, and honeypot activity.</a:t>
            </a:r>
          </a:p>
          <a:p>
            <a:pPr marL="342900" indent="-342900" algn="l">
              <a:lnSpc>
                <a:spcPts val="4600"/>
              </a:lnSpc>
              <a:buFont typeface="Arial"/>
              <a:buChar char="►"/>
            </a:pPr>
            <a:r>
              <a:rPr lang="en-US" b="1" dirty="0">
                <a:solidFill>
                  <a:srgbClr val="FF00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CVE TRIAGE IS A BOTTLENECK </a:t>
            </a:r>
            <a:r>
              <a:rPr lang="en-US" b="1" dirty="0">
                <a:solidFill>
                  <a:srgbClr val="DDDDD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</a:t>
            </a:r>
            <a:r>
              <a:rPr lang="en-US" b="1" dirty="0">
                <a:solidFill>
                  <a:srgbClr val="FF00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DDDDD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 teams waste hours manually prioritizing thousands of vulnerabilities.</a:t>
            </a:r>
          </a:p>
        </p:txBody>
      </p:sp>
      <p:sp>
        <p:nvSpPr>
          <p:cNvPr id="6" name="Txt70">
            <a:extLst>
              <a:ext uri="{FF2B5EF4-FFF2-40B4-BE49-F238E27FC236}">
                <a16:creationId xmlns:a16="http://schemas.microsoft.com/office/drawing/2014/main" id="{44C77881-6D49-83D2-448E-AE8FCF54A943}"/>
              </a:ext>
            </a:extLst>
          </p:cNvPr>
          <p:cNvSpPr txBox="1"/>
          <p:nvPr/>
        </p:nvSpPr>
        <p:spPr>
          <a:xfrm>
            <a:off x="1219200" y="6008941"/>
            <a:ext cx="12649200" cy="726161"/>
          </a:xfrm>
          <a:prstGeom prst="rect">
            <a:avLst/>
          </a:prstGeom>
          <a:noFill/>
        </p:spPr>
        <p:txBody>
          <a:bodyPr wrap="square" lIns="91440" tIns="91440" rIns="91440" bIns="91440" rtlCol="0" anchor="ctr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2200" b="1" dirty="0">
                <a:solidFill>
                  <a:srgbClr val="FF003C"/>
                </a:solidFill>
              </a:rPr>
              <a:t>Existing Problems:</a:t>
            </a:r>
          </a:p>
        </p:txBody>
      </p:sp>
      <p:sp>
        <p:nvSpPr>
          <p:cNvPr id="12" name="Bul71">
            <a:extLst>
              <a:ext uri="{FF2B5EF4-FFF2-40B4-BE49-F238E27FC236}">
                <a16:creationId xmlns:a16="http://schemas.microsoft.com/office/drawing/2014/main" id="{7780B208-8C68-98EF-BEBF-7F63116AC151}"/>
              </a:ext>
            </a:extLst>
          </p:cNvPr>
          <p:cNvSpPr txBox="1"/>
          <p:nvPr/>
        </p:nvSpPr>
        <p:spPr>
          <a:xfrm>
            <a:off x="900000" y="6657844"/>
            <a:ext cx="15522949" cy="3052054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342900" indent="-342900" algn="l">
              <a:lnSpc>
                <a:spcPts val="4600"/>
              </a:lnSpc>
              <a:buFont typeface="Arial"/>
              <a:buChar char="►"/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No unified platform combining malware scanning, phishing detection, CVE analysis, and policy interpretation.</a:t>
            </a:r>
          </a:p>
          <a:p>
            <a:pPr marL="342900" indent="-342900" algn="l">
              <a:lnSpc>
                <a:spcPts val="4600"/>
              </a:lnSpc>
              <a:buFont typeface="Arial"/>
              <a:buChar char="►"/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Traditional antivirus tools miss heuristic/polymorphic threats; no AI reasoning layer.</a:t>
            </a:r>
          </a:p>
          <a:p>
            <a:pPr marL="342900" indent="-342900" algn="l">
              <a:lnSpc>
                <a:spcPts val="4600"/>
              </a:lnSpc>
              <a:buFont typeface="Arial"/>
              <a:buChar char="►"/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Policy documents are static PDFs — employees can't query them conversationally.</a:t>
            </a:r>
          </a:p>
          <a:p>
            <a:pPr marL="342900" indent="-342900" algn="l">
              <a:lnSpc>
                <a:spcPts val="4600"/>
              </a:lnSpc>
              <a:buFont typeface="Arial"/>
              <a:buChar char="►"/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No accessible deception/honeypot tooling for small-to-mid organizations</a:t>
            </a:r>
          </a:p>
          <a:p>
            <a:pPr algn="l">
              <a:lnSpc>
                <a:spcPts val="4600"/>
              </a:lnSpc>
            </a:pP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66500">
            <a:off x="10980512" y="-908305"/>
            <a:ext cx="9839703" cy="4949980"/>
          </a:xfrm>
          <a:custGeom>
            <a:avLst/>
            <a:gdLst/>
            <a:ahLst/>
            <a:cxnLst/>
            <a:rect l="l" t="t" r="r" b="b"/>
            <a:pathLst>
              <a:path w="12307767" h="7200900">
                <a:moveTo>
                  <a:pt x="0" y="0"/>
                </a:moveTo>
                <a:lnTo>
                  <a:pt x="12307767" y="0"/>
                </a:lnTo>
                <a:lnTo>
                  <a:pt x="12307767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t="-33" b="-33"/>
            </a:stretch>
          </a:blipFill>
        </p:spPr>
      </p:sp>
      <p:sp>
        <p:nvSpPr>
          <p:cNvPr id="3" name="Freeform 3"/>
          <p:cNvSpPr/>
          <p:nvPr/>
        </p:nvSpPr>
        <p:spPr>
          <a:xfrm rot="1493580">
            <a:off x="-3376229" y="4799237"/>
            <a:ext cx="12443908" cy="6254656"/>
          </a:xfrm>
          <a:custGeom>
            <a:avLst/>
            <a:gdLst/>
            <a:ahLst/>
            <a:cxnLst/>
            <a:rect l="l" t="t" r="r" b="b"/>
            <a:pathLst>
              <a:path w="15325477" h="8242764">
                <a:moveTo>
                  <a:pt x="0" y="0"/>
                </a:moveTo>
                <a:lnTo>
                  <a:pt x="15325478" y="0"/>
                </a:lnTo>
                <a:lnTo>
                  <a:pt x="15325478" y="8242764"/>
                </a:lnTo>
                <a:lnTo>
                  <a:pt x="0" y="82427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 t="-34" b="-34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7534715" y="9520123"/>
            <a:ext cx="627364" cy="627364"/>
            <a:chOff x="0" y="0"/>
            <a:chExt cx="836485" cy="83648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36422" cy="836422"/>
            </a:xfrm>
            <a:custGeom>
              <a:avLst/>
              <a:gdLst/>
              <a:ahLst/>
              <a:cxnLst/>
              <a:rect l="l" t="t" r="r" b="b"/>
              <a:pathLst>
                <a:path w="836422" h="836422">
                  <a:moveTo>
                    <a:pt x="0" y="0"/>
                  </a:moveTo>
                  <a:lnTo>
                    <a:pt x="836422" y="0"/>
                  </a:lnTo>
                  <a:lnTo>
                    <a:pt x="836422" y="836422"/>
                  </a:lnTo>
                  <a:lnTo>
                    <a:pt x="0" y="836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7" b="-7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738862" y="-491738"/>
            <a:ext cx="3040875" cy="3040875"/>
            <a:chOff x="0" y="0"/>
            <a:chExt cx="4054500" cy="4054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54475" cy="4054475"/>
            </a:xfrm>
            <a:custGeom>
              <a:avLst/>
              <a:gdLst/>
              <a:ahLst/>
              <a:cxnLst/>
              <a:rect l="l" t="t" r="r" b="b"/>
              <a:pathLst>
                <a:path w="4054475" h="4054475">
                  <a:moveTo>
                    <a:pt x="0" y="0"/>
                  </a:moveTo>
                  <a:lnTo>
                    <a:pt x="4054475" y="0"/>
                  </a:lnTo>
                  <a:lnTo>
                    <a:pt x="4054475" y="4054475"/>
                  </a:lnTo>
                  <a:lnTo>
                    <a:pt x="0" y="4054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0" y="8865413"/>
            <a:ext cx="1936775" cy="1936775"/>
            <a:chOff x="0" y="0"/>
            <a:chExt cx="2582367" cy="258236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82418" cy="2582418"/>
            </a:xfrm>
            <a:custGeom>
              <a:avLst/>
              <a:gdLst/>
              <a:ahLst/>
              <a:cxnLst/>
              <a:rect l="l" t="t" r="r" b="b"/>
              <a:pathLst>
                <a:path w="2582418" h="2582418">
                  <a:moveTo>
                    <a:pt x="0" y="0"/>
                  </a:moveTo>
                  <a:lnTo>
                    <a:pt x="2582418" y="0"/>
                  </a:lnTo>
                  <a:lnTo>
                    <a:pt x="2582418" y="2582418"/>
                  </a:lnTo>
                  <a:lnTo>
                    <a:pt x="0" y="2582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" b="1"/>
              </a:stretch>
            </a:blipFill>
          </p:spPr>
        </p:sp>
      </p:grpSp>
      <p:sp>
        <p:nvSpPr>
          <p:cNvPr id="19" name="AccentBar"/>
          <p:cNvSpPr/>
          <p:nvPr/>
        </p:nvSpPr>
        <p:spPr>
          <a:xfrm>
            <a:off x="800000" y="1850000"/>
            <a:ext cx="100000" cy="7800000"/>
          </a:xfrm>
          <a:prstGeom prst="rect">
            <a:avLst/>
          </a:prstGeom>
          <a:solidFill>
            <a:srgbClr val="00F3FF"/>
          </a:solidFill>
          <a:ln>
            <a:noFill/>
          </a:ln>
        </p:spPr>
      </p:sp>
      <p:sp>
        <p:nvSpPr>
          <p:cNvPr id="20" name="SlideTitle"/>
          <p:cNvSpPr txBox="1"/>
          <p:nvPr/>
        </p:nvSpPr>
        <p:spPr>
          <a:xfrm>
            <a:off x="1000000" y="722177"/>
            <a:ext cx="12000000" cy="955646"/>
          </a:xfrm>
          <a:prstGeom prst="rect">
            <a:avLst/>
          </a:prstGeom>
          <a:noFill/>
        </p:spPr>
        <p:txBody>
          <a:bodyPr lIns="0" tIns="0" rIns="0" bIns="0" rtlCol="0" anchor="ctr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5500" b="1" dirty="0">
                <a:solidFill>
                  <a:srgbClr val="FFFFFF"/>
                </a:solidFill>
              </a:rPr>
              <a:t>PROPOSED SOLUTION</a:t>
            </a:r>
          </a:p>
        </p:txBody>
      </p:sp>
      <p:sp>
        <p:nvSpPr>
          <p:cNvPr id="18" name="Div"/>
          <p:cNvSpPr/>
          <p:nvPr/>
        </p:nvSpPr>
        <p:spPr>
          <a:xfrm>
            <a:off x="1000000" y="1850000"/>
            <a:ext cx="11000000" cy="500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70" name="Txt70"/>
          <p:cNvSpPr txBox="1"/>
          <p:nvPr/>
        </p:nvSpPr>
        <p:spPr>
          <a:xfrm>
            <a:off x="1000000" y="1944165"/>
            <a:ext cx="16500000" cy="711670"/>
          </a:xfrm>
          <a:prstGeom prst="rect">
            <a:avLst/>
          </a:prstGeom>
          <a:noFill/>
        </p:spPr>
        <p:txBody>
          <a:bodyPr lIns="91440" tIns="91440" rIns="91440" bIns="91440" rtlCol="0" anchor="ctr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CyberShield AI  —  A Unified AI-Powered Cybersecurity Operations Platform.</a:t>
            </a:r>
          </a:p>
        </p:txBody>
      </p:sp>
      <p:sp>
        <p:nvSpPr>
          <p:cNvPr id="30" name="Box30"/>
          <p:cNvSpPr/>
          <p:nvPr/>
        </p:nvSpPr>
        <p:spPr>
          <a:xfrm>
            <a:off x="1000000" y="2750000"/>
            <a:ext cx="7800000" cy="1900000"/>
          </a:xfrm>
          <a:prstGeom prst="rect">
            <a:avLst/>
          </a:prstGeom>
          <a:solidFill>
            <a:srgbClr val="00F3FF">
              <a:alpha val="8000"/>
            </a:srgbClr>
          </a:solidFill>
          <a:ln w="25400">
            <a:solidFill>
              <a:srgbClr val="00F3FF">
                <a:alpha val="50000"/>
              </a:srgbClr>
            </a:solidFill>
          </a:ln>
        </p:spPr>
      </p:sp>
      <p:sp>
        <p:nvSpPr>
          <p:cNvPr id="31" name="Txt31"/>
          <p:cNvSpPr txBox="1"/>
          <p:nvPr/>
        </p:nvSpPr>
        <p:spPr>
          <a:xfrm>
            <a:off x="1100000" y="2726871"/>
            <a:ext cx="7600000" cy="711670"/>
          </a:xfrm>
          <a:prstGeom prst="rect">
            <a:avLst/>
          </a:prstGeom>
          <a:noFill/>
        </p:spPr>
        <p:txBody>
          <a:bodyPr wrap="square" lIns="91440" tIns="91440" rIns="91440" bIns="91440" rtlCol="0" anchor="ctr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1800" b="1" dirty="0">
                <a:solidFill>
                  <a:srgbClr val="00F3FF"/>
                </a:solidFill>
              </a:rPr>
              <a:t>01  MALWARE SANDBOX</a:t>
            </a:r>
          </a:p>
        </p:txBody>
      </p:sp>
      <p:sp>
        <p:nvSpPr>
          <p:cNvPr id="32" name="Txt32"/>
          <p:cNvSpPr txBox="1"/>
          <p:nvPr/>
        </p:nvSpPr>
        <p:spPr>
          <a:xfrm>
            <a:off x="1100000" y="3308544"/>
            <a:ext cx="7600000" cy="1314527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14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Upload any file; integrates VirusTotal  API + SHA-256 hash caching for real-time polymorphic threat detection with confidence scoring.</a:t>
            </a:r>
          </a:p>
        </p:txBody>
      </p:sp>
      <p:sp>
        <p:nvSpPr>
          <p:cNvPr id="33" name="Box33"/>
          <p:cNvSpPr/>
          <p:nvPr/>
        </p:nvSpPr>
        <p:spPr>
          <a:xfrm>
            <a:off x="9200000" y="2750000"/>
            <a:ext cx="7800000" cy="1900000"/>
          </a:xfrm>
          <a:prstGeom prst="rect">
            <a:avLst/>
          </a:prstGeom>
          <a:solidFill>
            <a:srgbClr val="F97316">
              <a:alpha val="8000"/>
            </a:srgbClr>
          </a:solidFill>
          <a:ln w="25400">
            <a:solidFill>
              <a:srgbClr val="F97316">
                <a:alpha val="50000"/>
              </a:srgbClr>
            </a:solidFill>
          </a:ln>
        </p:spPr>
      </p:sp>
      <p:sp>
        <p:nvSpPr>
          <p:cNvPr id="34" name="Txt34"/>
          <p:cNvSpPr txBox="1"/>
          <p:nvPr/>
        </p:nvSpPr>
        <p:spPr>
          <a:xfrm>
            <a:off x="9300000" y="2754391"/>
            <a:ext cx="7600000" cy="711670"/>
          </a:xfrm>
          <a:prstGeom prst="rect">
            <a:avLst/>
          </a:prstGeom>
          <a:noFill/>
        </p:spPr>
        <p:txBody>
          <a:bodyPr wrap="square" lIns="91440" tIns="91440" rIns="91440" bIns="91440" rtlCol="0" anchor="ctr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1800" b="1" dirty="0">
                <a:solidFill>
                  <a:srgbClr val="F97316"/>
                </a:solidFill>
              </a:rPr>
              <a:t>02  PHISHING INTERCEPTOR</a:t>
            </a:r>
          </a:p>
        </p:txBody>
      </p:sp>
      <p:sp>
        <p:nvSpPr>
          <p:cNvPr id="35" name="Txt35"/>
          <p:cNvSpPr txBox="1"/>
          <p:nvPr/>
        </p:nvSpPr>
        <p:spPr>
          <a:xfrm>
            <a:off x="9264000" y="3149119"/>
            <a:ext cx="7736000" cy="1319977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Analyzes raw text, emails (.eml), images, and videos using LLaMA 3.3 70B (text/NLP) and LLaMA 3.2 90B Vision (deepfake detection via pixel artifact analysis).</a:t>
            </a:r>
          </a:p>
        </p:txBody>
      </p:sp>
      <p:sp>
        <p:nvSpPr>
          <p:cNvPr id="36" name="Box36"/>
          <p:cNvSpPr/>
          <p:nvPr/>
        </p:nvSpPr>
        <p:spPr>
          <a:xfrm>
            <a:off x="1000000" y="5000000"/>
            <a:ext cx="7800000" cy="1900000"/>
          </a:xfrm>
          <a:prstGeom prst="rect">
            <a:avLst/>
          </a:prstGeom>
          <a:solidFill>
            <a:srgbClr val="FF003C">
              <a:alpha val="8000"/>
            </a:srgbClr>
          </a:solidFill>
          <a:ln w="25400">
            <a:solidFill>
              <a:srgbClr val="FF003C">
                <a:alpha val="50000"/>
              </a:srgbClr>
            </a:solidFill>
          </a:ln>
        </p:spPr>
      </p:sp>
      <p:sp>
        <p:nvSpPr>
          <p:cNvPr id="37" name="Txt37"/>
          <p:cNvSpPr txBox="1"/>
          <p:nvPr/>
        </p:nvSpPr>
        <p:spPr>
          <a:xfrm>
            <a:off x="1061976" y="4960688"/>
            <a:ext cx="7638024" cy="711670"/>
          </a:xfrm>
          <a:prstGeom prst="rect">
            <a:avLst/>
          </a:prstGeom>
          <a:noFill/>
        </p:spPr>
        <p:txBody>
          <a:bodyPr wrap="square" lIns="91440" tIns="91440" rIns="91440" bIns="91440" rtlCol="0" anchor="ctr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1800" b="1" dirty="0">
                <a:solidFill>
                  <a:srgbClr val="FF003C"/>
                </a:solidFill>
              </a:rPr>
              <a:t>03  CVE TRIAGE ENGINE</a:t>
            </a:r>
          </a:p>
        </p:txBody>
      </p:sp>
      <p:sp>
        <p:nvSpPr>
          <p:cNvPr id="38" name="Txt38"/>
          <p:cNvSpPr txBox="1"/>
          <p:nvPr/>
        </p:nvSpPr>
        <p:spPr>
          <a:xfrm>
            <a:off x="1061976" y="5403954"/>
            <a:ext cx="7638024" cy="1314527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Fetches live NIST NVD data, scores CVEs using CVSS, then uses Groq AI to prioritize and generate actionable remediation steps</a:t>
            </a:r>
          </a:p>
        </p:txBody>
      </p:sp>
      <p:sp>
        <p:nvSpPr>
          <p:cNvPr id="39" name="Box39"/>
          <p:cNvSpPr/>
          <p:nvPr/>
        </p:nvSpPr>
        <p:spPr>
          <a:xfrm>
            <a:off x="9200000" y="5000000"/>
            <a:ext cx="7800000" cy="1900000"/>
          </a:xfrm>
          <a:prstGeom prst="rect">
            <a:avLst/>
          </a:prstGeom>
          <a:solidFill>
            <a:srgbClr val="39FF14">
              <a:alpha val="8000"/>
            </a:srgbClr>
          </a:solidFill>
          <a:ln w="25400">
            <a:solidFill>
              <a:srgbClr val="39FF14">
                <a:alpha val="50000"/>
              </a:srgbClr>
            </a:solidFill>
          </a:ln>
        </p:spPr>
      </p:sp>
      <p:sp>
        <p:nvSpPr>
          <p:cNvPr id="40" name="Txt40"/>
          <p:cNvSpPr txBox="1"/>
          <p:nvPr/>
        </p:nvSpPr>
        <p:spPr>
          <a:xfrm>
            <a:off x="9300000" y="4975339"/>
            <a:ext cx="7600000" cy="711670"/>
          </a:xfrm>
          <a:prstGeom prst="rect">
            <a:avLst/>
          </a:prstGeom>
          <a:noFill/>
        </p:spPr>
        <p:txBody>
          <a:bodyPr wrap="square" lIns="91440" tIns="91440" rIns="91440" bIns="91440" rtlCol="0" anchor="ctr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1800" b="1" dirty="0">
                <a:solidFill>
                  <a:srgbClr val="39FF14"/>
                </a:solidFill>
              </a:rPr>
              <a:t>04  POLICY INTE</a:t>
            </a:r>
            <a:r>
              <a:rPr lang="en-US" b="1" dirty="0">
                <a:solidFill>
                  <a:srgbClr val="39FF14"/>
                </a:solidFill>
              </a:rPr>
              <a:t>RROGATE</a:t>
            </a:r>
            <a:endParaRPr lang="en-US" sz="1800" b="1" dirty="0">
              <a:solidFill>
                <a:srgbClr val="39FF14"/>
              </a:solidFill>
            </a:endParaRPr>
          </a:p>
        </p:txBody>
      </p:sp>
      <p:sp>
        <p:nvSpPr>
          <p:cNvPr id="41" name="Txt41"/>
          <p:cNvSpPr txBox="1"/>
          <p:nvPr/>
        </p:nvSpPr>
        <p:spPr>
          <a:xfrm>
            <a:off x="9264000" y="5403954"/>
            <a:ext cx="7636000" cy="1314527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Upload any PDF security policy; ask natural language questions and get pinpoint answers grounded in the document..</a:t>
            </a:r>
          </a:p>
        </p:txBody>
      </p:sp>
      <p:sp>
        <p:nvSpPr>
          <p:cNvPr id="42" name="Box42"/>
          <p:cNvSpPr/>
          <p:nvPr/>
        </p:nvSpPr>
        <p:spPr>
          <a:xfrm>
            <a:off x="1000000" y="7250000"/>
            <a:ext cx="7800000" cy="1900000"/>
          </a:xfrm>
          <a:prstGeom prst="rect">
            <a:avLst/>
          </a:prstGeom>
          <a:solidFill>
            <a:srgbClr val="B000FF">
              <a:alpha val="8000"/>
            </a:srgbClr>
          </a:solidFill>
          <a:ln w="25400">
            <a:solidFill>
              <a:srgbClr val="B000FF">
                <a:alpha val="50000"/>
              </a:srgbClr>
            </a:solidFill>
          </a:ln>
        </p:spPr>
      </p:sp>
      <p:sp>
        <p:nvSpPr>
          <p:cNvPr id="43" name="Txt43"/>
          <p:cNvSpPr txBox="1"/>
          <p:nvPr/>
        </p:nvSpPr>
        <p:spPr>
          <a:xfrm>
            <a:off x="1100000" y="7250758"/>
            <a:ext cx="7600000" cy="711670"/>
          </a:xfrm>
          <a:prstGeom prst="rect">
            <a:avLst/>
          </a:prstGeom>
          <a:noFill/>
        </p:spPr>
        <p:txBody>
          <a:bodyPr wrap="square" lIns="91440" tIns="91440" rIns="91440" bIns="91440" rtlCol="0" anchor="ctr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1800" b="1" dirty="0">
                <a:solidFill>
                  <a:srgbClr val="B000FF"/>
                </a:solidFill>
              </a:rPr>
              <a:t>05  HONEYPOT NETWORK</a:t>
            </a:r>
          </a:p>
        </p:txBody>
      </p:sp>
      <p:sp>
        <p:nvSpPr>
          <p:cNvPr id="44" name="Txt44"/>
          <p:cNvSpPr txBox="1"/>
          <p:nvPr/>
        </p:nvSpPr>
        <p:spPr>
          <a:xfrm>
            <a:off x="1161976" y="7828666"/>
            <a:ext cx="7538024" cy="1314527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Real-time simulated deception network showing live attack traffic, tar-pit responses, and credential harvesting logs.</a:t>
            </a:r>
          </a:p>
        </p:txBody>
      </p:sp>
      <p:sp>
        <p:nvSpPr>
          <p:cNvPr id="45" name="Box45"/>
          <p:cNvSpPr/>
          <p:nvPr/>
        </p:nvSpPr>
        <p:spPr>
          <a:xfrm>
            <a:off x="9200000" y="7250000"/>
            <a:ext cx="7800000" cy="1900000"/>
          </a:xfrm>
          <a:prstGeom prst="rect">
            <a:avLst/>
          </a:prstGeom>
          <a:solidFill>
            <a:srgbClr val="FACC15">
              <a:alpha val="8000"/>
            </a:srgbClr>
          </a:solidFill>
          <a:ln w="25400">
            <a:solidFill>
              <a:srgbClr val="FACC15">
                <a:alpha val="50000"/>
              </a:srgbClr>
            </a:solidFill>
          </a:ln>
        </p:spPr>
      </p:sp>
      <p:sp>
        <p:nvSpPr>
          <p:cNvPr id="46" name="Txt46"/>
          <p:cNvSpPr txBox="1"/>
          <p:nvPr/>
        </p:nvSpPr>
        <p:spPr>
          <a:xfrm>
            <a:off x="9300000" y="7169165"/>
            <a:ext cx="7600000" cy="711670"/>
          </a:xfrm>
          <a:prstGeom prst="rect">
            <a:avLst/>
          </a:prstGeom>
          <a:noFill/>
        </p:spPr>
        <p:txBody>
          <a:bodyPr wrap="square" lIns="91440" tIns="91440" rIns="91440" bIns="91440" rtlCol="0" anchor="ctr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1800" b="1" dirty="0">
                <a:solidFill>
                  <a:srgbClr val="FACC15"/>
                </a:solidFill>
              </a:rPr>
              <a:t>06  NEXUS AI COPILOT</a:t>
            </a:r>
          </a:p>
        </p:txBody>
      </p:sp>
      <p:sp>
        <p:nvSpPr>
          <p:cNvPr id="47" name="Txt47"/>
          <p:cNvSpPr txBox="1"/>
          <p:nvPr/>
        </p:nvSpPr>
        <p:spPr>
          <a:xfrm>
            <a:off x="9200000" y="7708756"/>
            <a:ext cx="7700000" cy="1314527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Streaming security chatbot (Groq / LLaMA 3.3 70B) for incident response, firewall rules, CVE explanations, and hardening checklists.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66500">
            <a:off x="13322684" y="102039"/>
            <a:ext cx="9930537" cy="4979558"/>
          </a:xfrm>
          <a:custGeom>
            <a:avLst/>
            <a:gdLst/>
            <a:ahLst/>
            <a:cxnLst/>
            <a:rect l="l" t="t" r="r" b="b"/>
            <a:pathLst>
              <a:path w="12307767" h="7200900">
                <a:moveTo>
                  <a:pt x="0" y="0"/>
                </a:moveTo>
                <a:lnTo>
                  <a:pt x="12307767" y="0"/>
                </a:lnTo>
                <a:lnTo>
                  <a:pt x="12307767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t="-33" b="-33"/>
            </a:stretch>
          </a:blipFill>
        </p:spPr>
      </p:sp>
      <p:sp>
        <p:nvSpPr>
          <p:cNvPr id="3" name="Freeform 3"/>
          <p:cNvSpPr/>
          <p:nvPr/>
        </p:nvSpPr>
        <p:spPr>
          <a:xfrm rot="1493580">
            <a:off x="-3415679" y="4977972"/>
            <a:ext cx="11098807" cy="5770329"/>
          </a:xfrm>
          <a:custGeom>
            <a:avLst/>
            <a:gdLst/>
            <a:ahLst/>
            <a:cxnLst/>
            <a:rect l="l" t="t" r="r" b="b"/>
            <a:pathLst>
              <a:path w="15325477" h="8242764">
                <a:moveTo>
                  <a:pt x="0" y="0"/>
                </a:moveTo>
                <a:lnTo>
                  <a:pt x="15325478" y="0"/>
                </a:lnTo>
                <a:lnTo>
                  <a:pt x="15325478" y="8242764"/>
                </a:lnTo>
                <a:lnTo>
                  <a:pt x="0" y="82427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 t="-34" b="-34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5738862" y="-491738"/>
            <a:ext cx="3040875" cy="3040875"/>
            <a:chOff x="0" y="0"/>
            <a:chExt cx="4054500" cy="4054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54475" cy="4054475"/>
            </a:xfrm>
            <a:custGeom>
              <a:avLst/>
              <a:gdLst/>
              <a:ahLst/>
              <a:cxnLst/>
              <a:rect l="l" t="t" r="r" b="b"/>
              <a:pathLst>
                <a:path w="4054475" h="4054475">
                  <a:moveTo>
                    <a:pt x="0" y="0"/>
                  </a:moveTo>
                  <a:lnTo>
                    <a:pt x="4054475" y="0"/>
                  </a:lnTo>
                  <a:lnTo>
                    <a:pt x="4054475" y="4054475"/>
                  </a:lnTo>
                  <a:lnTo>
                    <a:pt x="0" y="4054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9" name="AccentBar"/>
          <p:cNvSpPr/>
          <p:nvPr/>
        </p:nvSpPr>
        <p:spPr>
          <a:xfrm>
            <a:off x="800000" y="1850000"/>
            <a:ext cx="100000" cy="760000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20" name="SlideTitle"/>
          <p:cNvSpPr txBox="1"/>
          <p:nvPr/>
        </p:nvSpPr>
        <p:spPr>
          <a:xfrm>
            <a:off x="1000000" y="722177"/>
            <a:ext cx="12000000" cy="955646"/>
          </a:xfrm>
          <a:prstGeom prst="rect">
            <a:avLst/>
          </a:prstGeom>
          <a:noFill/>
        </p:spPr>
        <p:txBody>
          <a:bodyPr lIns="0" tIns="0" rIns="0" bIns="0" rtlCol="0" anchor="ctr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5500" b="1" dirty="0">
                <a:solidFill>
                  <a:srgbClr val="FFFFFF"/>
                </a:solidFill>
              </a:rPr>
              <a:t>TECHNICAL APPROACH</a:t>
            </a:r>
          </a:p>
        </p:txBody>
      </p:sp>
      <p:sp>
        <p:nvSpPr>
          <p:cNvPr id="18" name="Div"/>
          <p:cNvSpPr/>
          <p:nvPr/>
        </p:nvSpPr>
        <p:spPr>
          <a:xfrm>
            <a:off x="1000000" y="1850000"/>
            <a:ext cx="11000000" cy="500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70" name="Txt70"/>
          <p:cNvSpPr txBox="1"/>
          <p:nvPr/>
        </p:nvSpPr>
        <p:spPr>
          <a:xfrm>
            <a:off x="2131100" y="4785227"/>
            <a:ext cx="4129199" cy="718915"/>
          </a:xfrm>
          <a:prstGeom prst="rect">
            <a:avLst/>
          </a:prstGeom>
          <a:noFill/>
        </p:spPr>
        <p:txBody>
          <a:bodyPr wrap="square" lIns="91440" tIns="91440" rIns="91440" bIns="91440" rtlCol="0" anchor="ctr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 OVERVIEW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5E390E-7D68-15E3-183A-FD81E41EA65F}"/>
              </a:ext>
            </a:extLst>
          </p:cNvPr>
          <p:cNvSpPr txBox="1"/>
          <p:nvPr/>
        </p:nvSpPr>
        <p:spPr>
          <a:xfrm>
            <a:off x="900000" y="2313626"/>
            <a:ext cx="113735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I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Frontend — React 19, Vite 8, Tailwind CSS, Framer Motion, Rechart.js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I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Backend — Node.js, Express 5, Socket.IO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I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AI/LLM — Groq API (LLaMA 3.3 70B + LLaMA 3.2 90B Vision)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I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 APIs — VirusTotal v3, NIST NVD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I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 — PostgreSQL (Neon)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I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PDF Parsing — pdfreader / pdf-parse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392C51-A695-CF72-3526-15483F36E4F4}"/>
              </a:ext>
            </a:extLst>
          </p:cNvPr>
          <p:cNvSpPr txBox="1"/>
          <p:nvPr/>
        </p:nvSpPr>
        <p:spPr>
          <a:xfrm>
            <a:off x="1000000" y="1936274"/>
            <a:ext cx="6391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3C"/>
                </a:solidFill>
              </a:rPr>
              <a:t>TECH STACK:</a:t>
            </a:r>
          </a:p>
          <a:p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6B41802-8149-C91F-D422-E2C253F0FD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6644" y="5575689"/>
            <a:ext cx="8626556" cy="45059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40C020B-19A5-C625-794F-8AF70B7916FA}"/>
              </a:ext>
            </a:extLst>
          </p:cNvPr>
          <p:cNvSpPr txBox="1"/>
          <p:nvPr/>
        </p:nvSpPr>
        <p:spPr>
          <a:xfrm>
            <a:off x="11698142" y="5074047"/>
            <a:ext cx="39435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  DIAGRAM</a:t>
            </a:r>
            <a:endParaRPr lang="en-IN" sz="20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091771-3829-4F73-7270-306FDD5994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54" y="5575689"/>
            <a:ext cx="9088119" cy="4505954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7660636" y="9659636"/>
            <a:ext cx="627364" cy="627364"/>
            <a:chOff x="0" y="0"/>
            <a:chExt cx="836485" cy="83648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36422" cy="836422"/>
            </a:xfrm>
            <a:custGeom>
              <a:avLst/>
              <a:gdLst/>
              <a:ahLst/>
              <a:cxnLst/>
              <a:rect l="l" t="t" r="r" b="b"/>
              <a:pathLst>
                <a:path w="836422" h="836422">
                  <a:moveTo>
                    <a:pt x="0" y="0"/>
                  </a:moveTo>
                  <a:lnTo>
                    <a:pt x="836422" y="0"/>
                  </a:lnTo>
                  <a:lnTo>
                    <a:pt x="836422" y="836422"/>
                  </a:lnTo>
                  <a:lnTo>
                    <a:pt x="0" y="836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7" b="-7"/>
              </a:stretch>
            </a:blipFill>
          </p:spPr>
        </p:sp>
      </p:grpSp>
      <p:sp>
        <p:nvSpPr>
          <p:cNvPr id="4" name="Txt40">
            <a:extLst>
              <a:ext uri="{FF2B5EF4-FFF2-40B4-BE49-F238E27FC236}">
                <a16:creationId xmlns:a16="http://schemas.microsoft.com/office/drawing/2014/main" id="{D89C65B7-5839-4C75-70EA-2AAD63513E86}"/>
              </a:ext>
            </a:extLst>
          </p:cNvPr>
          <p:cNvSpPr txBox="1"/>
          <p:nvPr/>
        </p:nvSpPr>
        <p:spPr>
          <a:xfrm>
            <a:off x="11953921" y="3403105"/>
            <a:ext cx="5420825" cy="753283"/>
          </a:xfrm>
          <a:prstGeom prst="rect">
            <a:avLst/>
          </a:prstGeom>
          <a:noFill/>
        </p:spPr>
        <p:txBody>
          <a:bodyPr wrap="square" lIns="91440" tIns="91440" rIns="91440" bIns="91440" rtlCol="0" anchor="ctr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iome" panose="020B0503030204020804" pitchFamily="34" charset="0"/>
                <a:cs typeface="Biome" panose="020B0503030204020804" pitchFamily="34" charset="0"/>
                <a:hlinkClick r:id="rId8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Prototype</a:t>
            </a:r>
            <a:endParaRPr lang="en-US" sz="32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F501B8-6F9F-5E2F-DBA9-A79D928D8879}"/>
              </a:ext>
            </a:extLst>
          </p:cNvPr>
          <p:cNvSpPr txBox="1"/>
          <p:nvPr/>
        </p:nvSpPr>
        <p:spPr>
          <a:xfrm>
            <a:off x="13187036" y="3302591"/>
            <a:ext cx="2954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trl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Click</a:t>
            </a:r>
          </a:p>
        </p:txBody>
      </p:sp>
      <p:sp>
        <p:nvSpPr>
          <p:cNvPr id="11" name="Txt42">
            <a:extLst>
              <a:ext uri="{FF2B5EF4-FFF2-40B4-BE49-F238E27FC236}">
                <a16:creationId xmlns:a16="http://schemas.microsoft.com/office/drawing/2014/main" id="{CCC06E0D-5BE1-4128-D256-5D12084565C5}"/>
              </a:ext>
            </a:extLst>
          </p:cNvPr>
          <p:cNvSpPr txBox="1"/>
          <p:nvPr/>
        </p:nvSpPr>
        <p:spPr>
          <a:xfrm>
            <a:off x="8382001" y="4004066"/>
            <a:ext cx="12192000" cy="707245"/>
          </a:xfrm>
          <a:prstGeom prst="rect">
            <a:avLst/>
          </a:prstGeom>
          <a:noFill/>
        </p:spPr>
        <p:txBody>
          <a:bodyPr wrap="square" lIns="91440" tIns="91440" rIns="91440" bIns="91440" rtlCol="0" anchor="ctr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1" dirty="0" err="1">
                <a:solidFill>
                  <a:srgbClr val="00F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Github</a:t>
            </a:r>
            <a:r>
              <a:rPr lang="en-US" b="1" dirty="0">
                <a:solidFill>
                  <a:srgbClr val="00F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Repo - 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https://github.com/vaishnavikhule1405-bit/CyberShieldAI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66500">
            <a:off x="11296979" y="-844566"/>
            <a:ext cx="9544970" cy="4778337"/>
          </a:xfrm>
          <a:custGeom>
            <a:avLst/>
            <a:gdLst/>
            <a:ahLst/>
            <a:cxnLst/>
            <a:rect l="l" t="t" r="r" b="b"/>
            <a:pathLst>
              <a:path w="12307767" h="7200900">
                <a:moveTo>
                  <a:pt x="0" y="0"/>
                </a:moveTo>
                <a:lnTo>
                  <a:pt x="12307767" y="0"/>
                </a:lnTo>
                <a:lnTo>
                  <a:pt x="12307767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t="-33" b="-33"/>
            </a:stretch>
          </a:blipFill>
        </p:spPr>
      </p:sp>
      <p:sp>
        <p:nvSpPr>
          <p:cNvPr id="3" name="Freeform 3"/>
          <p:cNvSpPr/>
          <p:nvPr/>
        </p:nvSpPr>
        <p:spPr>
          <a:xfrm rot="1493580">
            <a:off x="-3467842" y="5214308"/>
            <a:ext cx="11540661" cy="5620003"/>
          </a:xfrm>
          <a:custGeom>
            <a:avLst/>
            <a:gdLst/>
            <a:ahLst/>
            <a:cxnLst/>
            <a:rect l="l" t="t" r="r" b="b"/>
            <a:pathLst>
              <a:path w="15325477" h="8242764">
                <a:moveTo>
                  <a:pt x="0" y="0"/>
                </a:moveTo>
                <a:lnTo>
                  <a:pt x="15325478" y="0"/>
                </a:lnTo>
                <a:lnTo>
                  <a:pt x="15325478" y="8242764"/>
                </a:lnTo>
                <a:lnTo>
                  <a:pt x="0" y="82427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 t="-34" b="-34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7534715" y="9520123"/>
            <a:ext cx="627364" cy="627364"/>
            <a:chOff x="0" y="0"/>
            <a:chExt cx="836485" cy="83648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36422" cy="836422"/>
            </a:xfrm>
            <a:custGeom>
              <a:avLst/>
              <a:gdLst/>
              <a:ahLst/>
              <a:cxnLst/>
              <a:rect l="l" t="t" r="r" b="b"/>
              <a:pathLst>
                <a:path w="836422" h="836422">
                  <a:moveTo>
                    <a:pt x="0" y="0"/>
                  </a:moveTo>
                  <a:lnTo>
                    <a:pt x="836422" y="0"/>
                  </a:lnTo>
                  <a:lnTo>
                    <a:pt x="836422" y="836422"/>
                  </a:lnTo>
                  <a:lnTo>
                    <a:pt x="0" y="836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7" b="-7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738862" y="-491738"/>
            <a:ext cx="3040875" cy="3040875"/>
            <a:chOff x="0" y="0"/>
            <a:chExt cx="4054500" cy="4054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54475" cy="4054475"/>
            </a:xfrm>
            <a:custGeom>
              <a:avLst/>
              <a:gdLst/>
              <a:ahLst/>
              <a:cxnLst/>
              <a:rect l="l" t="t" r="r" b="b"/>
              <a:pathLst>
                <a:path w="4054475" h="4054475">
                  <a:moveTo>
                    <a:pt x="0" y="0"/>
                  </a:moveTo>
                  <a:lnTo>
                    <a:pt x="4054475" y="0"/>
                  </a:lnTo>
                  <a:lnTo>
                    <a:pt x="4054475" y="4054475"/>
                  </a:lnTo>
                  <a:lnTo>
                    <a:pt x="0" y="4054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0" y="8865413"/>
            <a:ext cx="1936775" cy="1936775"/>
            <a:chOff x="0" y="0"/>
            <a:chExt cx="2582367" cy="258236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82418" cy="2582418"/>
            </a:xfrm>
            <a:custGeom>
              <a:avLst/>
              <a:gdLst/>
              <a:ahLst/>
              <a:cxnLst/>
              <a:rect l="l" t="t" r="r" b="b"/>
              <a:pathLst>
                <a:path w="2582418" h="2582418">
                  <a:moveTo>
                    <a:pt x="0" y="0"/>
                  </a:moveTo>
                  <a:lnTo>
                    <a:pt x="2582418" y="0"/>
                  </a:lnTo>
                  <a:lnTo>
                    <a:pt x="2582418" y="2582418"/>
                  </a:lnTo>
                  <a:lnTo>
                    <a:pt x="0" y="2582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" b="1"/>
              </a:stretch>
            </a:blipFill>
          </p:spPr>
        </p:sp>
      </p:grpSp>
      <p:sp>
        <p:nvSpPr>
          <p:cNvPr id="19" name="AccentBar"/>
          <p:cNvSpPr/>
          <p:nvPr/>
        </p:nvSpPr>
        <p:spPr>
          <a:xfrm>
            <a:off x="800000" y="1850000"/>
            <a:ext cx="100000" cy="7600000"/>
          </a:xfrm>
          <a:prstGeom prst="rect">
            <a:avLst/>
          </a:prstGeom>
          <a:solidFill>
            <a:srgbClr val="B000FF"/>
          </a:solidFill>
          <a:ln>
            <a:noFill/>
          </a:ln>
        </p:spPr>
      </p:sp>
      <p:sp>
        <p:nvSpPr>
          <p:cNvPr id="20" name="SlideTitle"/>
          <p:cNvSpPr txBox="1"/>
          <p:nvPr/>
        </p:nvSpPr>
        <p:spPr>
          <a:xfrm>
            <a:off x="1000000" y="722177"/>
            <a:ext cx="12000000" cy="955646"/>
          </a:xfrm>
          <a:prstGeom prst="rect">
            <a:avLst/>
          </a:prstGeom>
          <a:noFill/>
        </p:spPr>
        <p:txBody>
          <a:bodyPr lIns="0" tIns="0" rIns="0" bIns="0" rtlCol="0" anchor="ctr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5500" b="1" dirty="0">
                <a:solidFill>
                  <a:srgbClr val="FFFFFF"/>
                </a:solidFill>
              </a:rPr>
              <a:t>CONCLUSION &amp; IMPACT</a:t>
            </a:r>
          </a:p>
        </p:txBody>
      </p:sp>
      <p:sp>
        <p:nvSpPr>
          <p:cNvPr id="18" name="Div"/>
          <p:cNvSpPr/>
          <p:nvPr/>
        </p:nvSpPr>
        <p:spPr>
          <a:xfrm>
            <a:off x="1000000" y="1850000"/>
            <a:ext cx="11000000" cy="500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40" name="Txt40"/>
          <p:cNvSpPr txBox="1"/>
          <p:nvPr/>
        </p:nvSpPr>
        <p:spPr>
          <a:xfrm>
            <a:off x="943407" y="2382753"/>
            <a:ext cx="6135147" cy="715260"/>
          </a:xfrm>
          <a:prstGeom prst="rect">
            <a:avLst/>
          </a:prstGeom>
          <a:noFill/>
        </p:spPr>
        <p:txBody>
          <a:bodyPr wrap="square" lIns="91440" tIns="91440" rIns="91440" bIns="91440" rtlCol="0" anchor="ctr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1900" b="1" dirty="0">
                <a:solidFill>
                  <a:srgbClr val="B000FF"/>
                </a:solidFill>
              </a:rPr>
              <a:t>PROBLEM SUMMARY</a:t>
            </a:r>
          </a:p>
        </p:txBody>
      </p:sp>
      <p:sp>
        <p:nvSpPr>
          <p:cNvPr id="41" name="Bul41"/>
          <p:cNvSpPr txBox="1"/>
          <p:nvPr/>
        </p:nvSpPr>
        <p:spPr>
          <a:xfrm>
            <a:off x="929007" y="3021215"/>
            <a:ext cx="8329914" cy="2454903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342900" indent="-342900" algn="l">
              <a:lnSpc>
                <a:spcPts val="4600"/>
              </a:lnSpc>
              <a:buFont typeface="Arial"/>
              <a:buChar char="►"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Rising cyberattacks: malware, phishing, deepfakes, CVEs .</a:t>
            </a:r>
          </a:p>
          <a:p>
            <a:pPr marL="342900" indent="-342900" algn="l">
              <a:lnSpc>
                <a:spcPts val="4600"/>
              </a:lnSpc>
              <a:buFont typeface="Arial"/>
              <a:buChar char="►"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Manual analysis → slow, error-prone, not scalable.</a:t>
            </a:r>
          </a:p>
          <a:p>
            <a:pPr marL="342900" indent="-342900" algn="l">
              <a:lnSpc>
                <a:spcPts val="4600"/>
              </a:lnSpc>
              <a:buFont typeface="Arial"/>
              <a:buChar char="►"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unified platform; tools are fragmented.</a:t>
            </a:r>
          </a:p>
          <a:p>
            <a:pPr marL="342900" indent="-342900" algn="l">
              <a:lnSpc>
                <a:spcPts val="4600"/>
              </a:lnSpc>
              <a:buFont typeface="Arial"/>
              <a:buChar char="►"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Lack of real-time visibility &amp; AI-driven detection.</a:t>
            </a:r>
          </a:p>
        </p:txBody>
      </p:sp>
      <p:sp>
        <p:nvSpPr>
          <p:cNvPr id="42" name="Txt42"/>
          <p:cNvSpPr txBox="1"/>
          <p:nvPr/>
        </p:nvSpPr>
        <p:spPr>
          <a:xfrm>
            <a:off x="1029007" y="5295889"/>
            <a:ext cx="8243144" cy="715260"/>
          </a:xfrm>
          <a:prstGeom prst="rect">
            <a:avLst/>
          </a:prstGeom>
          <a:noFill/>
        </p:spPr>
        <p:txBody>
          <a:bodyPr wrap="square" lIns="91440" tIns="91440" rIns="91440" bIns="91440" rtlCol="0" anchor="ctr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1900" b="1" dirty="0">
                <a:solidFill>
                  <a:srgbClr val="00F3FF"/>
                </a:solidFill>
              </a:rPr>
              <a:t>SOLUTION IMPACT</a:t>
            </a:r>
          </a:p>
        </p:txBody>
      </p:sp>
      <p:sp>
        <p:nvSpPr>
          <p:cNvPr id="43" name="Bul43"/>
          <p:cNvSpPr txBox="1"/>
          <p:nvPr/>
        </p:nvSpPr>
        <p:spPr>
          <a:xfrm>
            <a:off x="929007" y="5960225"/>
            <a:ext cx="8329914" cy="3044038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342900" indent="-342900" algn="l">
              <a:lnSpc>
                <a:spcPts val="4600"/>
              </a:lnSpc>
              <a:buFont typeface="Arial"/>
              <a:buChar char="►"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Unified AI platform for detection, analysis &amp; response.</a:t>
            </a:r>
          </a:p>
          <a:p>
            <a:pPr marL="342900" indent="-342900" algn="l">
              <a:lnSpc>
                <a:spcPts val="4600"/>
              </a:lnSpc>
              <a:buFont typeface="Arial"/>
              <a:buChar char="►"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Faster threat detection &amp; automated CVE prioritization.</a:t>
            </a:r>
          </a:p>
          <a:p>
            <a:pPr marL="342900" indent="-342900" algn="l">
              <a:lnSpc>
                <a:spcPts val="4600"/>
              </a:lnSpc>
              <a:buFont typeface="Arial"/>
              <a:buChar char="►"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Improved accuracy using LLaMA models.</a:t>
            </a:r>
          </a:p>
          <a:p>
            <a:pPr marL="342900" indent="-342900" algn="l">
              <a:lnSpc>
                <a:spcPts val="4600"/>
              </a:lnSpc>
              <a:buFont typeface="Arial"/>
              <a:buChar char="►"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Real-time monitoring + intelligent decision support.</a:t>
            </a:r>
          </a:p>
          <a:p>
            <a:pPr marL="342900" indent="-342900" algn="l">
              <a:lnSpc>
                <a:spcPts val="4600"/>
              </a:lnSpc>
              <a:buFont typeface="Arial"/>
              <a:buChar char="►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0" name="Txt50"/>
          <p:cNvSpPr txBox="1"/>
          <p:nvPr/>
        </p:nvSpPr>
        <p:spPr>
          <a:xfrm>
            <a:off x="9754114" y="1525835"/>
            <a:ext cx="7000000" cy="715260"/>
          </a:xfrm>
          <a:prstGeom prst="rect">
            <a:avLst/>
          </a:prstGeom>
          <a:noFill/>
        </p:spPr>
        <p:txBody>
          <a:bodyPr wrap="square" lIns="91440" tIns="91440" rIns="91440" bIns="91440" rtlCol="0" anchor="ctr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1900" b="1" dirty="0">
                <a:solidFill>
                  <a:srgbClr val="39FF14"/>
                </a:solidFill>
              </a:rPr>
              <a:t>FUTURE SCOPE</a:t>
            </a:r>
          </a:p>
        </p:txBody>
      </p:sp>
      <p:sp>
        <p:nvSpPr>
          <p:cNvPr id="51" name="Bul51"/>
          <p:cNvSpPr txBox="1"/>
          <p:nvPr/>
        </p:nvSpPr>
        <p:spPr>
          <a:xfrm>
            <a:off x="9621262" y="2132981"/>
            <a:ext cx="7132852" cy="2454903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342900" indent="-342900" algn="l">
              <a:lnSpc>
                <a:spcPts val="4600"/>
              </a:lnSpc>
              <a:buFont typeface="Arial"/>
              <a:buChar char="►"/>
            </a:pPr>
            <a:r>
              <a:rPr lang="en-US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SIEM integration — Splunk</a:t>
            </a:r>
          </a:p>
          <a:p>
            <a:pPr marL="342900" indent="-342900" algn="l">
              <a:lnSpc>
                <a:spcPts val="4600"/>
              </a:lnSpc>
              <a:buFont typeface="Arial"/>
              <a:buChar char="►"/>
            </a:pPr>
            <a:r>
              <a:rPr lang="en-US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Autonomous threat response systems.</a:t>
            </a:r>
          </a:p>
          <a:p>
            <a:pPr marL="342900" indent="-342900" algn="l">
              <a:lnSpc>
                <a:spcPts val="4600"/>
              </a:lnSpc>
              <a:buFont typeface="Arial"/>
              <a:buChar char="►"/>
            </a:pPr>
            <a:r>
              <a:rPr lang="en-US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Cloud-native &amp; mobile monitoring.</a:t>
            </a:r>
          </a:p>
          <a:p>
            <a:pPr marL="342900" indent="-342900" algn="l">
              <a:lnSpc>
                <a:spcPts val="4600"/>
              </a:lnSpc>
              <a:buFont typeface="Arial"/>
              <a:buChar char="►"/>
            </a:pPr>
            <a:r>
              <a:rPr lang="en-US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Predictive threat intelligence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" name="Txt52"/>
          <p:cNvSpPr txBox="1"/>
          <p:nvPr/>
        </p:nvSpPr>
        <p:spPr>
          <a:xfrm>
            <a:off x="9754114" y="4511289"/>
            <a:ext cx="6773600" cy="715260"/>
          </a:xfrm>
          <a:prstGeom prst="rect">
            <a:avLst/>
          </a:prstGeom>
          <a:noFill/>
        </p:spPr>
        <p:txBody>
          <a:bodyPr wrap="square" lIns="91440" tIns="91440" rIns="91440" bIns="91440" rtlCol="0" anchor="ctr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1900" b="1" dirty="0">
                <a:solidFill>
                  <a:srgbClr val="C00000"/>
                </a:solidFill>
              </a:rPr>
              <a:t>RESEARCH &amp; REPORTS</a:t>
            </a:r>
          </a:p>
        </p:txBody>
      </p:sp>
      <p:sp>
        <p:nvSpPr>
          <p:cNvPr id="53" name="Bul53"/>
          <p:cNvSpPr txBox="1"/>
          <p:nvPr/>
        </p:nvSpPr>
        <p:spPr>
          <a:xfrm>
            <a:off x="9754114" y="4955125"/>
            <a:ext cx="7000000" cy="2454903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342900" indent="-342900" algn="l">
              <a:lnSpc>
                <a:spcPts val="4600"/>
              </a:lnSpc>
              <a:buClr>
                <a:schemeClr val="bg1"/>
              </a:buClr>
              <a:buFont typeface="Arial"/>
              <a:buChar char="►"/>
            </a:pPr>
            <a:r>
              <a:rPr lang="en-US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Transformer &amp; NLP security models (BERT, GANs)</a:t>
            </a:r>
          </a:p>
          <a:p>
            <a:pPr marL="342900" indent="-342900" algn="l">
              <a:lnSpc>
                <a:spcPts val="4600"/>
              </a:lnSpc>
              <a:buClr>
                <a:schemeClr val="bg1"/>
              </a:buClr>
              <a:buFont typeface="Arial"/>
              <a:buChar char="►"/>
            </a:pPr>
            <a:r>
              <a:rPr lang="en-US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National Institute of Standards and Technology (NIST CSF)</a:t>
            </a:r>
          </a:p>
          <a:p>
            <a:pPr marL="342900" indent="-342900" algn="l">
              <a:lnSpc>
                <a:spcPts val="4600"/>
              </a:lnSpc>
              <a:buClr>
                <a:schemeClr val="bg1"/>
              </a:buClr>
              <a:buFont typeface="Arial"/>
              <a:buChar char="►"/>
            </a:pPr>
            <a:r>
              <a:rPr lang="en-US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Cybersecurity and Infrastructure Security Agency (CISA)</a:t>
            </a:r>
          </a:p>
          <a:p>
            <a:pPr marL="342900" indent="-342900" algn="l">
              <a:lnSpc>
                <a:spcPts val="4600"/>
              </a:lnSpc>
              <a:buClr>
                <a:schemeClr val="bg1"/>
              </a:buClr>
              <a:buFont typeface="Arial"/>
              <a:buChar char="►"/>
            </a:pPr>
            <a:r>
              <a:rPr lang="en-US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National Vulnerability Database (CVE data)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A3DD-EF67-EBD9-337B-58AE0FA5BA30}"/>
              </a:ext>
            </a:extLst>
          </p:cNvPr>
          <p:cNvSpPr txBox="1"/>
          <p:nvPr/>
        </p:nvSpPr>
        <p:spPr>
          <a:xfrm>
            <a:off x="9898314" y="7557887"/>
            <a:ext cx="4794662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DOCUMENTAION:</a:t>
            </a:r>
          </a:p>
          <a:p>
            <a:endParaRPr lang="en-IN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Bul51">
            <a:extLst>
              <a:ext uri="{FF2B5EF4-FFF2-40B4-BE49-F238E27FC236}">
                <a16:creationId xmlns:a16="http://schemas.microsoft.com/office/drawing/2014/main" id="{53F3CE30-791A-E0CD-CFEA-D41078F34B09}"/>
              </a:ext>
            </a:extLst>
          </p:cNvPr>
          <p:cNvSpPr txBox="1"/>
          <p:nvPr/>
        </p:nvSpPr>
        <p:spPr>
          <a:xfrm>
            <a:off x="9754114" y="7932914"/>
            <a:ext cx="4938863" cy="1864998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342900" indent="-342900" algn="l">
              <a:lnSpc>
                <a:spcPts val="4600"/>
              </a:lnSpc>
              <a:buFont typeface="Arial"/>
              <a:buChar char="►"/>
            </a:pPr>
            <a:r>
              <a:rPr lang="en-US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React, Node.js, Express.js</a:t>
            </a:r>
          </a:p>
          <a:p>
            <a:pPr marL="342900" indent="-342900" algn="l">
              <a:lnSpc>
                <a:spcPts val="4600"/>
              </a:lnSpc>
              <a:buFont typeface="Arial"/>
              <a:buChar char="►"/>
            </a:pPr>
            <a:r>
              <a:rPr lang="en-US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PostgreSQL / Neon</a:t>
            </a:r>
          </a:p>
          <a:p>
            <a:pPr marL="342900" indent="-342900" algn="l">
              <a:lnSpc>
                <a:spcPts val="4600"/>
              </a:lnSpc>
              <a:buFont typeface="Arial"/>
              <a:buChar char="►"/>
            </a:pPr>
            <a:r>
              <a:rPr lang="en-US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VirusTotal, Groq  APIs</a:t>
            </a:r>
          </a:p>
        </p:txBody>
      </p:sp>
      <p:sp>
        <p:nvSpPr>
          <p:cNvPr id="4" name="AccentBar">
            <a:extLst>
              <a:ext uri="{FF2B5EF4-FFF2-40B4-BE49-F238E27FC236}">
                <a16:creationId xmlns:a16="http://schemas.microsoft.com/office/drawing/2014/main" id="{0BB4010F-8F28-24B3-D643-D838212715B3}"/>
              </a:ext>
            </a:extLst>
          </p:cNvPr>
          <p:cNvSpPr/>
          <p:nvPr/>
        </p:nvSpPr>
        <p:spPr>
          <a:xfrm>
            <a:off x="9258921" y="1842855"/>
            <a:ext cx="100000" cy="7600000"/>
          </a:xfrm>
          <a:prstGeom prst="rect">
            <a:avLst/>
          </a:prstGeom>
          <a:solidFill>
            <a:srgbClr val="B000FF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635</Words>
  <Application>Microsoft Office PowerPoint</Application>
  <PresentationFormat>Custom</PresentationFormat>
  <Paragraphs>81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Wingdings</vt:lpstr>
      <vt:lpstr>Arial</vt:lpstr>
      <vt:lpstr>Calibri</vt:lpstr>
      <vt:lpstr>Biome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Quantum_Hacks_Template.pptx</dc:title>
  <dc:creator>vaishnavi khule</dc:creator>
  <cp:lastModifiedBy>Amitesh Jain</cp:lastModifiedBy>
  <cp:revision>11</cp:revision>
  <dcterms:created xsi:type="dcterms:W3CDTF">2006-08-16T00:00:00Z</dcterms:created>
  <dcterms:modified xsi:type="dcterms:W3CDTF">2026-03-24T03:04:22Z</dcterms:modified>
  <dc:identifier>DAHCWseDQUk</dc:identifier>
</cp:coreProperties>
</file>